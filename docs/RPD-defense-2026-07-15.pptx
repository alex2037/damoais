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1"/>
    <p:sldId id="264" r:id="rId12"/>
    <p:sldId id="261" r:id="rId5"/>
    <p:sldId id="258" r:id="rId4"/>
    <p:sldId id="265" r:id="rId13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1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2"/>
  </p:normalViewPr>
  <p:slideViewPr>
    <p:cSldViewPr snapToGrid="0">
      <p:cViewPr varScale="1">
        <p:scale>
          <a:sx n="111" d="100"/>
          <a:sy n="111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4D75-7094-767C-F696-163DA0631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olos Text" panose="020B0503020202020204" pitchFamily="34" charset="0"/>
                <a:ea typeface="Golos Text" panose="020B0503020202020204" pitchFamily="34" charset="0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704547-04D0-4D38-DB77-B43D52ABB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24416-E8F9-61EF-E6D1-BC2B4BAD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5AA014-56BF-40CB-39F2-DC33F3AF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8BC4B-DA57-1DC8-6D9D-53969507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11257-CAF6-47B5-D2A5-6F48CB2F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04584-D55D-5002-3CFB-92ECEBCB8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6E326A-0D2A-7537-95A3-F838AF0C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FF1308-8060-D862-3F8E-C9209AB0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2E7770-AC08-478A-2DFC-52CA9BC09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52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B72F2-D5B8-B308-E7BA-AA2D2C0E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F9E6FA-8BED-62C4-EA10-DFDD2C17C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879B11-A705-E38C-760B-49584E60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2B70AE-75DF-8572-5095-F5DCD3D7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ACFDE-55D1-781E-AC17-12F8511B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651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6F225-3DC8-CCAA-3314-17B0B981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960A77-1953-B756-F038-C2AD0481D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C4E49E-93B8-3A24-2205-E54E59C36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8382C-B13D-FC98-5410-E562E82F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7C28D2-B037-A94E-1A85-76995C9F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7B33AD-36F7-1833-97AA-C005F72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0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3EFB5-579F-BE0B-166C-50426ED7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F83B45-78DE-0567-0995-1A1C751C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D1D42A-C580-082A-A23E-0DD0CB0D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7575B3-47F7-7043-1A19-2CADAAA5A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0853BBA-EB99-E6BB-45E2-225CC5E8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4AD746-157B-488B-A4A4-B12DD945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FA9D4-4769-94B0-4630-BB70AD74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A310FFB-2D2C-0B90-4ED6-F54BE2F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9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671BE-F29D-7143-B2C0-E41BFD68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B13310-D4EB-4448-E040-D406C2B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22AFDA-E23B-F6DC-0074-86E450354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43832A-200E-F2C9-2D80-B185CF13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63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98E6E3-17C8-654A-2ED8-A2DBD947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972E5A-A91E-F858-AAC8-6831E0DE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3696D1-D4AF-3353-A158-31EF3C3C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388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FD9AD-84DC-EAF1-4A37-28B053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92A09D-B4BE-6AD7-26D0-490F3B093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42F5F4-3B1B-A795-36FE-C6B5DBBB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7D14E4-61DE-FBE9-79AC-AF0981CCC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38B01F-825D-1209-3206-3ED34A23D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E1DCBD-DCDB-9BE6-A14D-41FA544B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497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5EC7E9-28C4-918A-5FBE-2F6FA856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A22047-5CE4-09F7-7296-126A89887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8CFEB5-6122-7E07-B156-6DEC0F798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136853-2C93-9518-7229-5FAF7CBA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2FCEA4-DC7F-6683-C79D-DCB54162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5E2CF-EAC4-6261-EAF3-7A33BA8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96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986E0-902E-3707-6F09-5208A5A1A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8853C4-83F9-00EB-13F2-004171E0C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02B9AD-F7CC-DC3E-D98C-E2CBB6A6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35AED8-859D-C7BA-D8B4-3C052B25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D5590-FA44-FA25-32A7-187D79A3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25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A6162F-0CEA-89D5-C5BC-AFAF0D665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20F03-9C3B-1511-C6F4-0174F6678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DA9F2B-975E-9F5A-EB9C-1CBFBA4F6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6239FE-BEE0-7F3E-DDFD-331E63DB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FCA3-4959-96FA-D1A1-32AE64E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7193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B8F61-F8FD-2E11-52B5-535412FA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7468CD-D4E7-208A-1469-156E1DA05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3BCF-6C7A-9183-FCD5-EF960E897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A3099-0E2E-404F-AC88-0DAC237DA2C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317AE4-1A8E-3EF8-C946-B3600AF0F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1697FD-5E73-4CFC-DCA4-B7A933533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75F6E-18E3-C843-9FEA-3A2B6C50C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8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Golos Text DemiBold" panose="020B0503020202020204" pitchFamily="34" charset="0"/>
          <a:ea typeface="Golos Text DemiBold" panose="020B0503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los Text" panose="020B0503020202020204" pitchFamily="34" charset="0"/>
          <a:ea typeface="Golos Text" panose="020B0503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A3A7DE-9454-3205-A880-5CE67D6E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430"/>
            <a:ext cx="848531" cy="1935538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16E39A8-88E6-3DA1-B9A7-9D4886DCD160}"/>
              </a:ext>
            </a:extLst>
          </p:cNvPr>
          <p:cNvSpPr/>
          <p:nvPr/>
        </p:nvSpPr>
        <p:spPr>
          <a:xfrm>
            <a:off x="0" y="3923818"/>
            <a:ext cx="12191999" cy="3035401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14D7EF9-463E-3F60-540D-9EF95177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4327" y="1362850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FC655D-C2BD-9061-29D1-33ABB82E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4249041"/>
            <a:ext cx="9144000" cy="1714723"/>
          </a:xfrm>
        </p:spPr>
        <p:txBody>
          <a:bodyPr>
            <a:normAutofit/>
          </a:bodyPr>
          <a:lstStyle/>
          <a:p>
            <a:r>
              <a:t>Развертывание и сопровождение</a:t>
            </a:r>
          </a:p>
          <a:p>
            <a:r>
              <a:t>систем 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284915-241E-8EE1-802E-3993741DF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6116881"/>
            <a:ext cx="9144000" cy="658857"/>
          </a:xfrm>
        </p:spPr>
        <p:txBody>
          <a:bodyPr/>
          <a:lstStyle/>
          <a:p>
            <a:r>
              <a:t>Проект рабочей программы дисциплины · защита 15 июля 2026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455776-F093-4AF3-E008-4E649B75E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84394D-C7A5-E8B6-4037-C5DF0775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D2CF0753-6B81-2CC5-533F-5F048D407D72}"/>
              </a:ext>
            </a:extLst>
          </p:cNvPr>
          <p:cNvSpPr txBox="1">
            <a:spLocks/>
          </p:cNvSpPr>
          <p:nvPr/>
        </p:nvSpPr>
        <p:spPr>
          <a:xfrm>
            <a:off x="676443" y="3010968"/>
            <a:ext cx="9144000" cy="908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</a:t>
            </a:r>
            <a:b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>
                <a:solidFill>
                  <a:srgbClr val="014189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на топ-уровне: системное видение</a:t>
            </a:r>
            <a:endParaRPr lang="ru-RU" b="1" dirty="0">
              <a:solidFill>
                <a:srgbClr val="014189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74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t>Зачем эта дисциплина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3833"/>
            <a:ext cx="10515600" cy="3723130"/>
          </a:xfrm>
        </p:spPr>
        <p:txBody>
          <a:bodyPr wrap="square"/>
          <a:lstStyle/>
          <a:p>
            <a:pPr/>
            <a:r>
              <a:rPr sz="1600" b="0"/>
              <a:t>В подготовке ИИ-кадров перекос в исследователей-«математиков» и «вайбкодеров» — индустрии нужны инженеры эксплуатации ИИ</a:t>
            </a:r>
            <a:endParaRPr lang="ru-RU" dirty="0"/>
          </a:p>
          <a:p>
            <a:pPr/>
            <a:r>
              <a:rPr sz="1600" b="0"/>
              <a:t>Типовой сценарий индустрии: серверные + локальные БЯМ на группу пользователей — программирование, RAG-системы, ведение проектов</a:t>
            </a:r>
          </a:p>
          <a:p>
            <a:pPr/>
            <a:r>
              <a:rPr sz="1600" b="1"/>
              <a:t>Ключевой акцент: от «запустил локально — работает» к «выдерживает нагрузку группы из 30 человек в проде»</a:t>
            </a:r>
          </a:p>
          <a:p>
            <a:pPr/>
            <a:r>
              <a:rPr sz="1600" b="0"/>
              <a:t>Цель: выпускник самостоятельно разворачивает, масштабирует и сопровождает системы ИИ в production-среде с учётом ограничений инфраструктуры, нагрузки и пользовательского опыта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75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2451-6695-3A33-9C55-F455A3C98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DB7BBF-72B7-AF68-4191-A926AAE3D3C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E0A62-9509-94F3-8748-6C1FF7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347827"/>
            <a:ext cx="3427673" cy="480869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0E483-EE1D-D3E9-579F-F08BABC2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41601"/>
            <a:ext cx="10400142" cy="878761"/>
          </a:xfrm>
        </p:spPr>
        <p:txBody>
          <a:bodyPr/>
          <a:lstStyle/>
          <a:p>
            <a:r>
              <a:t>Система оценки результатов обучения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B2240ECF-CF0D-0FD8-2893-0FF6675980B0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D0B2A8C-4966-E62C-16D2-22E73CF8EC6E}"/>
              </a:ext>
            </a:extLst>
          </p:cNvPr>
          <p:cNvSpPr/>
          <p:nvPr/>
        </p:nvSpPr>
        <p:spPr>
          <a:xfrm>
            <a:off x="412488" y="1701478"/>
            <a:ext cx="11208494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9AADBFA8-E093-0533-CD21-19F4ECA7B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63710"/>
            <a:ext cx="10400141" cy="4113253"/>
          </a:xfrm>
        </p:spPr>
        <p:txBody>
          <a:bodyPr wrap="square"/>
          <a:lstStyle/>
          <a:p>
            <a:pPr/>
            <a:r>
              <a:rPr sz="1600" b="0"/>
              <a:t>Текущий контроль: ЛР1–ЛР7 (30 %), экспресс-тесты по лекциям (10 %), peer-review (10 %)</a:t>
            </a:r>
            <a:endParaRPr lang="ru-RU" dirty="0"/>
          </a:p>
          <a:p>
            <a:pPr/>
            <a:r>
              <a:rPr sz="1600" b="0"/>
              <a:t>Рубежный контроль: контрольные точки этапов сквозного проекта</a:t>
            </a:r>
          </a:p>
          <a:p>
            <a:pPr/>
            <a:r>
              <a:rPr sz="1600" b="0"/>
              <a:t>Промежуточная аттестация: итоговый проект (30 %) + защита перед комиссией (20 %)</a:t>
            </a:r>
          </a:p>
          <a:p>
            <a:pPr/>
            <a:r>
              <a:rPr sz="1600" b="1"/>
              <a:t>10-балльная шкала с опорными точками КРМ: 4 (Б) · 6 (С) · 8 · 10 (П)</a:t>
            </a:r>
          </a:p>
          <a:p>
            <a:pPr/>
            <a:r>
              <a:rPr sz="1600" b="0"/>
              <a:t>Порог освоения: ≥ 4,0 итоговых балла и ≥ 4 по каждой оси проекта («Программное решение», «Документация»)</a:t>
            </a:r>
          </a:p>
        </p:txBody>
      </p:sp>
    </p:spTree>
    <p:extLst>
      <p:ext uri="{BB962C8B-B14F-4D97-AF65-F5344CB8AC3E}">
        <p14:creationId xmlns:p14="http://schemas.microsoft.com/office/powerpoint/2010/main" val="121804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CC34D69-4AE1-A850-22D7-C0226B3B530D}"/>
              </a:ext>
            </a:extLst>
          </p:cNvPr>
          <p:cNvSpPr/>
          <p:nvPr/>
        </p:nvSpPr>
        <p:spPr>
          <a:xfrm>
            <a:off x="0" y="1"/>
            <a:ext cx="12191999" cy="6857999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F6FE21C-8F2B-E1DE-47FD-E7F3E2DDC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327" y="296477"/>
            <a:ext cx="3427673" cy="4808695"/>
          </a:xfrm>
          <a:prstGeom prst="rect">
            <a:avLst/>
          </a:prstGeom>
        </p:spPr>
      </p:pic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7DCE3389-3903-2BAF-7D53-58063E9D5361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85339B1-9E64-5581-444A-605C5AE9C54A}"/>
              </a:ext>
            </a:extLst>
          </p:cNvPr>
          <p:cNvSpPr/>
          <p:nvPr/>
        </p:nvSpPr>
        <p:spPr>
          <a:xfrm>
            <a:off x="412488" y="1701478"/>
            <a:ext cx="5628866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5E2579AB-0D1D-8775-67D4-2AB356862038}"/>
              </a:ext>
            </a:extLst>
          </p:cNvPr>
          <p:cNvSpPr/>
          <p:nvPr/>
        </p:nvSpPr>
        <p:spPr>
          <a:xfrm>
            <a:off x="6185373" y="1701478"/>
            <a:ext cx="5628866" cy="4860045"/>
          </a:xfrm>
          <a:prstGeom prst="roundRect">
            <a:avLst>
              <a:gd name="adj" fmla="val 1011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2E4A4-3F15-63A9-8864-D608B8D4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0432"/>
            <a:ext cx="10515600" cy="962808"/>
          </a:xfrm>
        </p:spPr>
        <p:txBody>
          <a:bodyPr/>
          <a:lstStyle/>
          <a:p>
            <a:r>
              <a:t>Сквозной проект: shared ИИ-сервис на 30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E22C6A-9AC8-43D2-5FBA-0A4E3A926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955831"/>
            <a:ext cx="4833396" cy="4351338"/>
          </a:xfrm>
        </p:spPr>
        <p:txBody>
          <a:bodyPr wrap="square"/>
          <a:lstStyle/>
          <a:p>
            <a:pPr/>
            <a:r>
              <a:rPr sz="1400" b="1"/>
              <a:t>Этапы (лабораторные)</a:t>
            </a:r>
            <a:endParaRPr lang="ru-RU" dirty="0"/>
          </a:p>
          <a:p>
            <a:pPr/>
            <a:r>
              <a:rPr sz="1400" b="0"/>
              <a:t>1. Сервис-контракт и контейнер (ЛР1–ЛР2): SLA + inference-сервер на CPU/GPU</a:t>
            </a:r>
          </a:p>
          <a:p>
            <a:pPr/>
            <a:r>
              <a:rPr sz="1400" b="0"/>
              <a:t>2. Оркестрация (ЛР3): сервис в K8s с GPU и автомасштабированием</a:t>
            </a:r>
          </a:p>
          <a:p>
            <a:pPr/>
            <a:r>
              <a:rPr sz="1400" b="0"/>
              <a:t>3. Данные/RAG и поставка (ЛР4–ЛР5): RAG-контур + CI/CD-деплой</a:t>
            </a:r>
          </a:p>
          <a:p>
            <a:pPr/>
            <a:r>
              <a:rPr sz="1400" b="0"/>
              <a:t>4. Эксплуатация (ЛР6–ЛР8): мониторинг, нагрузочный тест, SLA-отчёт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F49E3A-320E-0AB2-21BE-5CB61D9A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92271" y="1955831"/>
            <a:ext cx="4815069" cy="4351338"/>
          </a:xfrm>
        </p:spPr>
        <p:txBody>
          <a:bodyPr wrap="square"/>
          <a:lstStyle/>
          <a:p>
            <a:pPr/>
            <a:r>
              <a:rPr sz="1400" b="1"/>
              <a:t>Результат и защита</a:t>
            </a:r>
            <a:endParaRPr lang="ru-RU" dirty="0"/>
          </a:p>
          <a:p>
            <a:pPr/>
            <a:r>
              <a:rPr sz="1400" b="0"/>
              <a:t>Inference-endpoint + RAG-контур + шлюз доступа с квотами + мониторинг</a:t>
            </a:r>
          </a:p>
          <a:p>
            <a:pPr/>
            <a:r>
              <a:rPr sz="1400" b="0"/>
              <a:t>SLA доказан нагрузочным профилем «30 пользователей» (p95, TTFT, TPS)</a:t>
            </a:r>
          </a:p>
          <a:p>
            <a:pPr/>
            <a:r>
              <a:rPr sz="1400" b="0"/>
              <a:t>Capacity-отчёт: сколько GPU нужно на 30 / 1000 пользователей</a:t>
            </a:r>
          </a:p>
          <a:p>
            <a:pPr/>
            <a:r>
              <a:rPr sz="1400" b="0"/>
              <a:t>Защита перед комиссией: MVP + 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326921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D3C52-D36E-B5D8-1B74-D1C2DD62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D49AB9E-48D7-E2B7-2537-BD7A755A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6173"/>
            <a:ext cx="848531" cy="1935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14C6743-F301-E900-1780-7132452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175" y="1531743"/>
            <a:ext cx="3950825" cy="554262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A99AA-9194-4CB0-7B95-EC429B313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43" y="1867175"/>
            <a:ext cx="9144000" cy="1714723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>
                <a:solidFill>
                  <a:srgbClr val="014189"/>
                </a:solidFill>
              </a:rPr>
              <a:t>Спасибо</a:t>
            </a:r>
            <a:br>
              <a:rPr lang="ru-RU" dirty="0">
                <a:solidFill>
                  <a:srgbClr val="014189"/>
                </a:solidFill>
              </a:rPr>
            </a:br>
            <a:r>
              <a:rPr lang="ru-RU" dirty="0">
                <a:solidFill>
                  <a:srgbClr val="014189"/>
                </a:solidFill>
              </a:rPr>
              <a:t>за внимание!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6EB930A-16BD-7DC1-CCCA-29C950911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443" y="3822096"/>
            <a:ext cx="9144000" cy="658857"/>
          </a:xfrm>
        </p:spPr>
        <p:txBody>
          <a:bodyPr>
            <a:normAutofit/>
          </a:bodyPr>
          <a:lstStyle/>
          <a:p>
            <a:r>
              <a:t>github.com/alex2037/DaMoAIS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57B91C-B786-81AC-ADAC-261E92165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43" y="386289"/>
            <a:ext cx="5322298" cy="32989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6CD3E4-EC7E-D110-993A-6658A5C51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23" y="391785"/>
            <a:ext cx="1692234" cy="32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0581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t>Компетенции и индикаторы (КРМ 3.0)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3833"/>
            <a:ext cx="10515600" cy="3723130"/>
          </a:xfrm>
        </p:spPr>
        <p:txBody>
          <a:bodyPr wrap="square"/>
          <a:lstStyle/>
          <a:p>
            <a:pPr/>
            <a:r>
              <a:rPr sz="1500" b="1"/>
              <a:t>LC-5 — Промышленная разработка, развертывание, эксплуатация и мониторинг систем ИИ</a:t>
            </a:r>
            <a:endParaRPr lang="ru-RU" dirty="0"/>
          </a:p>
          <a:p>
            <a:pPr lvl="1"/>
            <a:r>
              <a:rPr sz="1500" b="0"/>
              <a:t>LC-5.1 — инструменты и практики: контейнеризация, серверы инференса (vLLM, Triton), Kubernetes, CI/CD, мониторинг</a:t>
            </a:r>
          </a:p>
          <a:p>
            <a:pPr lvl="1"/>
            <a:r>
              <a:rPr sz="1500" b="0"/>
              <a:t>LC-5.2 — управление данными: S3/MinIO, DVC, векторные БД, кэши, репликация, RBAC/IAM</a:t>
            </a:r>
          </a:p>
          <a:p>
            <a:pPr/>
            <a:r>
              <a:rPr sz="1500" b="1"/>
              <a:t>BD-5 — Дополнительные технологии организации инфраструктуры больших данных</a:t>
            </a:r>
          </a:p>
          <a:p>
            <a:pPr lvl="1"/>
            <a:r>
              <a:rPr sz="1500" b="0"/>
              <a:t>BD-5.1 — обоснованный выбор технологического стека под ограничения</a:t>
            </a:r>
          </a:p>
          <a:p>
            <a:pPr lvl="1"/>
            <a:r>
              <a:rPr sz="1500" b="0"/>
              <a:t>BD-5.2 — решения на CPU/GPU, в облаке и на edge</a:t>
            </a:r>
          </a:p>
          <a:p>
            <a:pPr lvl="1"/>
            <a:r>
              <a:rPr sz="1500" b="0"/>
              <a:t>BD-5.3 — нагрузочное тестирование, метрики, SLA, capacity planning</a:t>
            </a:r>
          </a:p>
          <a:p>
            <a:pPr/>
            <a:r>
              <a:rPr sz="1500" b="0"/>
              <a:t>Уровни освоения: Б (базовый) → С (средний) → П (продвинутый, на итоговом проекте)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t>Структура: 8 разделов, 72 часа (20 Л / 28 ЛР / 24 СРС)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94560"/>
          <a:ext cx="10424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40080"/>
                <a:gridCol w="640080"/>
                <a:gridCol w="822960"/>
                <a:gridCol w="2103120"/>
                <a:gridCol w="137160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Раздел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ЛР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СРС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Индикаторы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Уровень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1. Архитектура и эксплуатационные требования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LC-5.1, BD-5.3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Б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2. Контейнеризация и серверы инференса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LC-5.1, BD-5.2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Б–С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3. Оркестрация и масштабирование в Kubernetes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4. Инфраструктура данных и RAG-контуры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LC-5.2, BD-5.1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5. CI/CD, реестры моделей и GitOps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6. Мониторинг, логирование и наблюдаемость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LC-5.1, BD-5.3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С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7. Нагрузочное тестирование и оценка качества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BD-5.3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С–П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 b="0"/>
                        <a:t>8. Планирование мощности, итоговый проект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BD-5.2, BD-5.3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П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526472-897C-E9A2-7243-3ACEAEE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9139"/>
            <a:ext cx="10515600" cy="1325563"/>
          </a:xfrm>
        </p:spPr>
        <p:txBody>
          <a:bodyPr/>
          <a:lstStyle/>
          <a:p>
            <a:r>
              <a:t>Место в программе и статус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1CF8BE-7C18-E6DA-2E1B-B7B81CCA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3833"/>
            <a:ext cx="10515600" cy="3723130"/>
          </a:xfrm>
        </p:spPr>
        <p:txBody>
          <a:bodyPr wrap="square"/>
          <a:lstStyle/>
          <a:p>
            <a:pPr/>
            <a:r>
              <a:rPr sz="1500" b="1"/>
              <a:t>Опирается на</a:t>
            </a:r>
            <a:endParaRPr lang="ru-RU" dirty="0"/>
          </a:p>
          <a:p>
            <a:pPr lvl="1"/>
            <a:r>
              <a:rPr sz="1500" b="0"/>
              <a:t>MLOps &amp; DevOps, Машинное и Глубокое обучение, БД и NoSQL, Администрирование сетей, Микросервисная архитектура, Тестирование ПО</a:t>
            </a:r>
          </a:p>
          <a:p>
            <a:pPr/>
            <a:r>
              <a:rPr sz="1500" b="1"/>
              <a:t>Развивает</a:t>
            </a:r>
          </a:p>
          <a:p>
            <a:pPr lvl="1"/>
            <a:r>
              <a:rPr sz="1500" b="0"/>
              <a:t>Высоконагруженные приложения, Генеративный ИИ, проектная работа, преддипломная практика и ВКР</a:t>
            </a:r>
          </a:p>
          <a:p>
            <a:pPr/>
            <a:r>
              <a:rPr sz="1500" b="1"/>
              <a:t>Статус</a:t>
            </a:r>
          </a:p>
          <a:p>
            <a:pPr lvl="1"/>
            <a:r>
              <a:rPr sz="1500" b="0"/>
              <a:t>РПД в логике КРМ готова: github.com/alex2037/DaMoAIS</a:t>
            </a:r>
          </a:p>
          <a:p>
            <a:pPr lvl="1"/>
            <a:r>
              <a:rPr sz="1500" b="0"/>
              <a:t>Этап 2 — ФОС: модель измерения, КИМ, ресурсы, методические указания — к 24.07, защита 30–31.07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7BB26-BC5B-ABD1-A0CF-AC453633B13F}"/>
              </a:ext>
            </a:extLst>
          </p:cNvPr>
          <p:cNvSpPr/>
          <p:nvPr/>
        </p:nvSpPr>
        <p:spPr>
          <a:xfrm>
            <a:off x="0" y="1"/>
            <a:ext cx="12191999" cy="681036"/>
          </a:xfrm>
          <a:prstGeom prst="rect">
            <a:avLst/>
          </a:prstGeom>
          <a:solidFill>
            <a:srgbClr val="01418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>
              <a:solidFill>
                <a:schemeClr val="bg1"/>
              </a:solidFill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524785D-F2DB-1F5D-33A9-3206116CAD5F}"/>
              </a:ext>
            </a:extLst>
          </p:cNvPr>
          <p:cNvSpPr txBox="1">
            <a:spLocks/>
          </p:cNvSpPr>
          <p:nvPr/>
        </p:nvSpPr>
        <p:spPr>
          <a:xfrm>
            <a:off x="722742" y="182825"/>
            <a:ext cx="10515600" cy="362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bg1"/>
                </a:solidFill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Преподавание современного ИИ на топ-уровне: системное видение</a:t>
            </a:r>
            <a:endParaRPr lang="ru-RU" sz="1800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50</Words>
  <Application>Microsoft Macintosh PowerPoint</Application>
  <PresentationFormat>Широкоэкранный</PresentationFormat>
  <Paragraphs>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Aptos</vt:lpstr>
      <vt:lpstr>Arial</vt:lpstr>
      <vt:lpstr>Golos Text</vt:lpstr>
      <vt:lpstr>Golos Text DemiBold</vt:lpstr>
      <vt:lpstr>Тема Office</vt:lpstr>
      <vt:lpstr>Заголовок презентации  в 2 или несколько строк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Будуева Ольга Олеговна</dc:creator>
  <cp:lastModifiedBy>Будуева Ольга Олеговна</cp:lastModifiedBy>
  <cp:revision>2</cp:revision>
  <dcterms:created xsi:type="dcterms:W3CDTF">2026-06-15T11:15:35Z</dcterms:created>
  <dcterms:modified xsi:type="dcterms:W3CDTF">2026-06-30T09:58:18Z</dcterms:modified>
</cp:coreProperties>
</file>