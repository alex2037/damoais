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Golos Text"/>
      <p:regular r:id="rId20"/>
      <p:bold r:id="rId21"/>
    </p:embeddedFont>
    <p:embeddedFont>
      <p:font typeface="Golos Text SemiBold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jveClOtRW+3oEyOT0CrSvg8Z0o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6143CF0-7D4B-4E3C-BB5F-59AC23AAD7D7}">
  <a:tblStyle styleId="{46143CF0-7D4B-4E3C-BB5F-59AC23AAD7D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olosText-regular.fntdata"/><Relationship Id="rId11" Type="http://schemas.openxmlformats.org/officeDocument/2006/relationships/slide" Target="slides/slide6.xml"/><Relationship Id="rId22" Type="http://schemas.openxmlformats.org/officeDocument/2006/relationships/font" Target="fonts/GolosTextSemiBold-regular.fntdata"/><Relationship Id="rId10" Type="http://schemas.openxmlformats.org/officeDocument/2006/relationships/slide" Target="slides/slide5.xml"/><Relationship Id="rId21" Type="http://schemas.openxmlformats.org/officeDocument/2006/relationships/font" Target="fonts/GolosText-bold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GolosTextSemiBold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522112df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f522112dfd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522112df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f522112dfd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522112dfd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f522112dfd_0_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522112dfd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f522112dfd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522112dfd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f522112dfd_0_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522112dfd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f522112dfd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522112dfd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f522112dfd_0_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522112dfd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f522112dfd_0_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3a8a9dc8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f3a8a9dc8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Golos Text"/>
              <a:buNone/>
              <a:defRPr sz="6000">
                <a:latin typeface="Golos Text"/>
                <a:ea typeface="Golos Text"/>
                <a:cs typeface="Golos Text"/>
                <a:sym typeface="Golos Tex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Golos Text SemiBold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3" name="Google Shape;33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los Text SemiBold"/>
              <a:buNone/>
              <a:defRPr b="1" i="0" sz="4400" u="none" cap="none" strike="noStrik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075430"/>
            <a:ext cx="848531" cy="193553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/>
          <p:nvPr/>
        </p:nvSpPr>
        <p:spPr>
          <a:xfrm>
            <a:off x="0" y="3923818"/>
            <a:ext cx="12192000" cy="3035400"/>
          </a:xfrm>
          <a:prstGeom prst="rect">
            <a:avLst/>
          </a:prstGeom>
          <a:solidFill>
            <a:srgbClr val="0141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64327" y="1362850"/>
            <a:ext cx="3427673" cy="480869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>
            <p:ph type="ctrTitle"/>
          </p:nvPr>
        </p:nvSpPr>
        <p:spPr>
          <a:xfrm>
            <a:off x="571500" y="3926423"/>
            <a:ext cx="9144000" cy="1275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Golos Text"/>
              <a:buNone/>
            </a:pPr>
            <a:r>
              <a:rPr lang="ru-RU" sz="4800">
                <a:solidFill>
                  <a:schemeClr val="lt1"/>
                </a:solidFill>
              </a:rPr>
              <a:t>Развертывание и эксплуатация систем ИИ</a:t>
            </a:r>
            <a:endParaRPr sz="4800">
              <a:solidFill>
                <a:schemeClr val="lt1"/>
              </a:solidFill>
            </a:endParaRPr>
          </a:p>
        </p:txBody>
      </p:sp>
      <p:sp>
        <p:nvSpPr>
          <p:cNvPr id="88" name="Google Shape;88;p1"/>
          <p:cNvSpPr txBox="1"/>
          <p:nvPr>
            <p:ph idx="1" type="subTitle"/>
          </p:nvPr>
        </p:nvSpPr>
        <p:spPr>
          <a:xfrm>
            <a:off x="676452" y="5452169"/>
            <a:ext cx="11226900" cy="12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ru-RU">
                <a:solidFill>
                  <a:schemeClr val="lt1"/>
                </a:solidFill>
              </a:rPr>
              <a:t>Команда 37 - Прутский А. С., Коржавина А. С., Крид Д. А., Назаров А. Д.,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ru-RU">
                <a:solidFill>
                  <a:schemeClr val="lt1"/>
                </a:solidFill>
              </a:rPr>
              <a:t> Чапкин Н. С., Новиков М. Ю.</a:t>
            </a:r>
            <a:endParaRPr/>
          </a:p>
        </p:txBody>
      </p:sp>
      <p:pic>
        <p:nvPicPr>
          <p:cNvPr id="89" name="Google Shape;89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6443" y="386289"/>
            <a:ext cx="5322298" cy="329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23323" y="391785"/>
            <a:ext cx="1692234" cy="32989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/>
        </p:nvSpPr>
        <p:spPr>
          <a:xfrm>
            <a:off x="676443" y="3010968"/>
            <a:ext cx="9144000" cy="9088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89"/>
              </a:buClr>
              <a:buSzPts val="2400"/>
              <a:buFont typeface="Arial"/>
              <a:buNone/>
            </a:pPr>
            <a:r>
              <a:rPr b="1" i="0" lang="ru-RU" sz="2400" u="none" cap="none" strike="noStrike">
                <a:solidFill>
                  <a:srgbClr val="014189"/>
                </a:solidFill>
                <a:latin typeface="Golos Text"/>
                <a:ea typeface="Golos Text"/>
                <a:cs typeface="Golos Text"/>
                <a:sym typeface="Golos Text"/>
              </a:rPr>
              <a:t>Преподавание современного ИИ </a:t>
            </a:r>
            <a:br>
              <a:rPr b="1" i="0" lang="ru-RU" sz="2400" u="none" cap="none" strike="noStrike">
                <a:solidFill>
                  <a:srgbClr val="014189"/>
                </a:solidFill>
                <a:latin typeface="Golos Text"/>
                <a:ea typeface="Golos Text"/>
                <a:cs typeface="Golos Text"/>
                <a:sym typeface="Golos Text"/>
              </a:rPr>
            </a:br>
            <a:r>
              <a:rPr b="1" i="0" lang="ru-RU" sz="2400" u="none" cap="none" strike="noStrike">
                <a:solidFill>
                  <a:srgbClr val="014189"/>
                </a:solidFill>
                <a:latin typeface="Golos Text"/>
                <a:ea typeface="Golos Text"/>
                <a:cs typeface="Golos Text"/>
                <a:sym typeface="Golos Text"/>
              </a:rPr>
              <a:t>на топ-уровне: системное видение</a:t>
            </a:r>
            <a:endParaRPr b="1" i="0" sz="2400" u="none" cap="none" strike="noStrike">
              <a:solidFill>
                <a:srgbClr val="014189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92" name="Google Shape;92;p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95781" y="2276708"/>
            <a:ext cx="1562100" cy="156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"/>
          <p:cNvSpPr/>
          <p:nvPr/>
        </p:nvSpPr>
        <p:spPr>
          <a:xfrm>
            <a:off x="0" y="1"/>
            <a:ext cx="12191999" cy="6857999"/>
          </a:xfrm>
          <a:prstGeom prst="rect">
            <a:avLst/>
          </a:prstGeom>
          <a:solidFill>
            <a:srgbClr val="0141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" name="Google Shape;9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64327" y="296477"/>
            <a:ext cx="3427673" cy="480869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4"/>
          <p:cNvSpPr txBox="1"/>
          <p:nvPr/>
        </p:nvSpPr>
        <p:spPr>
          <a:xfrm>
            <a:off x="722742" y="182825"/>
            <a:ext cx="10515600" cy="3622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Преподавание современного ИИ на топ-уровне: системное видение</a:t>
            </a:r>
            <a:endParaRPr b="0" i="0" sz="1800" u="none" cap="none" strike="noStrike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412488" y="1701478"/>
            <a:ext cx="5628866" cy="4860045"/>
          </a:xfrm>
          <a:prstGeom prst="roundRect">
            <a:avLst>
              <a:gd fmla="val 1011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6185373" y="1701478"/>
            <a:ext cx="5628866" cy="4860045"/>
          </a:xfrm>
          <a:prstGeom prst="roundRect">
            <a:avLst>
              <a:gd fmla="val 1011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4"/>
          <p:cNvSpPr txBox="1"/>
          <p:nvPr>
            <p:ph type="title"/>
          </p:nvPr>
        </p:nvSpPr>
        <p:spPr>
          <a:xfrm>
            <a:off x="838199" y="590432"/>
            <a:ext cx="10515600" cy="962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los Text SemiBold"/>
              <a:buNone/>
            </a:pPr>
            <a:r>
              <a:rPr lang="ru-RU">
                <a:solidFill>
                  <a:schemeClr val="lt1"/>
                </a:solidFill>
              </a:rPr>
              <a:t>Краткое описание дисциплины</a:t>
            </a:r>
            <a:r>
              <a:rPr b="0" lang="ru-RU" sz="1100"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838199" y="1955831"/>
            <a:ext cx="4833396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 sz="1400">
                <a:solidFill>
                  <a:srgbClr val="1F232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Дисциплина готовит инженеров систем ИИ, смещая фокус с теоретических задач и использования ИИ‑инструментов на реальные инженерные решения для бизнеса. Основной упор направлен на развертывание и эксплуатацию ИИ‑сервисов в продакшене: совместное использование серверных и локальных моделей для группы пользователей (30+ человек), работа с RAG, управление ресурсами и обеспечение устойчивости под нагрузкой. </a:t>
            </a:r>
            <a:endParaRPr sz="1400"/>
          </a:p>
        </p:txBody>
      </p:sp>
      <p:sp>
        <p:nvSpPr>
          <p:cNvPr id="104" name="Google Shape;104;p4"/>
          <p:cNvSpPr txBox="1"/>
          <p:nvPr>
            <p:ph idx="2" type="body"/>
          </p:nvPr>
        </p:nvSpPr>
        <p:spPr>
          <a:xfrm>
            <a:off x="6592271" y="1955831"/>
            <a:ext cx="481506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1F232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Роли: </a:t>
            </a:r>
            <a:endParaRPr sz="1400">
              <a:solidFill>
                <a:srgbClr val="1F23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1400">
              <a:solidFill>
                <a:srgbClr val="1F23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1F232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ML Engineer</a:t>
            </a:r>
            <a:endParaRPr sz="1400">
              <a:solidFill>
                <a:srgbClr val="1F23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1400">
              <a:solidFill>
                <a:srgbClr val="1F23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ru-RU" sz="1400">
                <a:solidFill>
                  <a:srgbClr val="1F232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MLOps</a:t>
            </a:r>
            <a:endParaRPr sz="1200">
              <a:solidFill>
                <a:srgbClr val="1F23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rgbClr val="0141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64327" y="347827"/>
            <a:ext cx="3427673" cy="480869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 txBox="1"/>
          <p:nvPr>
            <p:ph type="title"/>
          </p:nvPr>
        </p:nvSpPr>
        <p:spPr>
          <a:xfrm>
            <a:off x="838199" y="641601"/>
            <a:ext cx="10400142" cy="878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los Text SemiBold"/>
              <a:buNone/>
            </a:pPr>
            <a:r>
              <a:rPr lang="ru-RU">
                <a:solidFill>
                  <a:schemeClr val="lt1"/>
                </a:solidFill>
              </a:rPr>
              <a:t>Цель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722742" y="182825"/>
            <a:ext cx="10515600" cy="3622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Преподавание современного ИИ на топ-уровне: системное видение</a:t>
            </a:r>
            <a:endParaRPr b="0" i="0" sz="1800" u="none" cap="none" strike="noStrike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412488" y="1701478"/>
            <a:ext cx="11208494" cy="4860045"/>
          </a:xfrm>
          <a:prstGeom prst="roundRect">
            <a:avLst>
              <a:gd fmla="val 1011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"/>
          <p:cNvSpPr txBox="1"/>
          <p:nvPr>
            <p:ph idx="1" type="body"/>
          </p:nvPr>
        </p:nvSpPr>
        <p:spPr>
          <a:xfrm>
            <a:off x="838199" y="2063710"/>
            <a:ext cx="10400141" cy="4113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89"/>
              </a:buClr>
              <a:buSzPts val="2400"/>
              <a:buFont typeface="Arial"/>
              <a:buNone/>
            </a:pPr>
            <a:r>
              <a:rPr lang="ru-RU" sz="2400">
                <a:solidFill>
                  <a:srgbClr val="014189"/>
                </a:solidFill>
              </a:rPr>
              <a:t>Подготовить специалистов, способных самостоятельно разворачивать, масштабировать и сопровождать системы ИИ в production-среде, с учётом реальных ограничений инфраструктуры, нагрузки и пользовательского опыта. </a:t>
            </a:r>
            <a:endParaRPr sz="2400">
              <a:solidFill>
                <a:srgbClr val="014189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89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14189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89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14189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89"/>
              </a:buClr>
              <a:buSzPts val="2400"/>
              <a:buFont typeface="Arial"/>
              <a:buNone/>
            </a:pPr>
            <a:r>
              <a:rPr lang="ru-RU" sz="2400">
                <a:solidFill>
                  <a:srgbClr val="014189"/>
                </a:solidFill>
              </a:rPr>
              <a:t>7 семестр, 72 часа</a:t>
            </a:r>
            <a:endParaRPr sz="2400">
              <a:solidFill>
                <a:srgbClr val="01418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522112dfd_0_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41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g3f522112dfd_0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64327" y="347827"/>
            <a:ext cx="3427672" cy="480869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g3f522112dfd_0_4"/>
          <p:cNvSpPr txBox="1"/>
          <p:nvPr>
            <p:ph type="title"/>
          </p:nvPr>
        </p:nvSpPr>
        <p:spPr>
          <a:xfrm>
            <a:off x="838199" y="641601"/>
            <a:ext cx="10400100" cy="8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los Text SemiBold"/>
              <a:buNone/>
            </a:pPr>
            <a:r>
              <a:rPr lang="ru-RU">
                <a:solidFill>
                  <a:schemeClr val="lt1"/>
                </a:solidFill>
              </a:rPr>
              <a:t>З</a:t>
            </a:r>
            <a:r>
              <a:rPr lang="ru-RU">
                <a:solidFill>
                  <a:schemeClr val="lt1"/>
                </a:solidFill>
              </a:rPr>
              <a:t>адачи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2" name="Google Shape;122;g3f522112dfd_0_4"/>
          <p:cNvSpPr txBox="1"/>
          <p:nvPr/>
        </p:nvSpPr>
        <p:spPr>
          <a:xfrm>
            <a:off x="722742" y="182825"/>
            <a:ext cx="105156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Преподавание современного ИИ на топ-уровне: системное видение</a:t>
            </a:r>
            <a:endParaRPr b="0" i="0" sz="1800" u="none" cap="none" strike="noStrike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23" name="Google Shape;123;g3f522112dfd_0_4"/>
          <p:cNvSpPr/>
          <p:nvPr/>
        </p:nvSpPr>
        <p:spPr>
          <a:xfrm>
            <a:off x="412488" y="1701478"/>
            <a:ext cx="11208600" cy="4860000"/>
          </a:xfrm>
          <a:prstGeom prst="roundRect">
            <a:avLst>
              <a:gd fmla="val 1011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g3f522112dfd_0_4"/>
          <p:cNvSpPr txBox="1"/>
          <p:nvPr>
            <p:ph idx="1" type="body"/>
          </p:nvPr>
        </p:nvSpPr>
        <p:spPr>
          <a:xfrm>
            <a:off x="838200" y="1960825"/>
            <a:ext cx="10400100" cy="44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71371" lvl="0" marL="46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4189"/>
              </a:buClr>
              <a:buSzPct val="100000"/>
              <a:buChar char="●"/>
            </a:pPr>
            <a:r>
              <a:rPr lang="ru-RU" sz="2400">
                <a:solidFill>
                  <a:srgbClr val="014189"/>
                </a:solidFill>
              </a:rPr>
              <a:t>Спроектировать архитектуру развёртывания системы ИИ с учётом требований к latency, throughput, отказоустойчивости и стоимости</a:t>
            </a:r>
            <a:endParaRPr sz="2400">
              <a:solidFill>
                <a:srgbClr val="014189"/>
              </a:solidFill>
            </a:endParaRPr>
          </a:p>
          <a:p>
            <a:pPr indent="-371371" lvl="0" marL="46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4189"/>
              </a:buClr>
              <a:buSzPct val="100000"/>
              <a:buChar char="●"/>
            </a:pPr>
            <a:r>
              <a:rPr lang="ru-RU" sz="2400">
                <a:solidFill>
                  <a:srgbClr val="014189"/>
                </a:solidFill>
              </a:rPr>
              <a:t>Выбрать и обосновать инструменты контейнеризации, оркестрации и сервинга моделей под конкретную задачу</a:t>
            </a:r>
            <a:endParaRPr sz="2400">
              <a:solidFill>
                <a:srgbClr val="014189"/>
              </a:solidFill>
            </a:endParaRPr>
          </a:p>
          <a:p>
            <a:pPr indent="-371371" lvl="0" marL="46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4189"/>
              </a:buClr>
              <a:buSzPct val="100000"/>
              <a:buChar char="●"/>
            </a:pPr>
            <a:r>
              <a:rPr lang="ru-RU" sz="2400">
                <a:solidFill>
                  <a:srgbClr val="014189"/>
                </a:solidFill>
              </a:rPr>
              <a:t>Развернуть ML-модель в контейнере с поддержкой GPU-ускорения</a:t>
            </a:r>
            <a:endParaRPr sz="2400">
              <a:solidFill>
                <a:srgbClr val="014189"/>
              </a:solidFill>
            </a:endParaRPr>
          </a:p>
          <a:p>
            <a:pPr indent="-371371" lvl="0" marL="46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4189"/>
              </a:buClr>
              <a:buSzPct val="100000"/>
              <a:buChar char="●"/>
            </a:pPr>
            <a:r>
              <a:rPr lang="ru-RU" sz="2400">
                <a:solidFill>
                  <a:srgbClr val="014189"/>
                </a:solidFill>
              </a:rPr>
              <a:t>Настроить оркестрацию контейнеров в Kubernetes с балансировкой нагрузки</a:t>
            </a:r>
            <a:endParaRPr sz="2400">
              <a:solidFill>
                <a:srgbClr val="014189"/>
              </a:solidFill>
            </a:endParaRPr>
          </a:p>
          <a:p>
            <a:pPr indent="-371371" lvl="0" marL="46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4189"/>
              </a:buClr>
              <a:buSzPct val="100000"/>
              <a:buChar char="●"/>
            </a:pPr>
            <a:r>
              <a:rPr lang="ru-RU" sz="2400">
                <a:solidFill>
                  <a:srgbClr val="014189"/>
                </a:solidFill>
              </a:rPr>
              <a:t>Организовать хранение и версионирование данных, моделей и артефактов</a:t>
            </a:r>
            <a:endParaRPr sz="2400">
              <a:solidFill>
                <a:srgbClr val="014189"/>
              </a:solidFill>
            </a:endParaRPr>
          </a:p>
          <a:p>
            <a:pPr indent="-371371" lvl="0" marL="46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4189"/>
              </a:buClr>
              <a:buSzPct val="100000"/>
              <a:buChar char="●"/>
            </a:pPr>
            <a:r>
              <a:rPr lang="ru-RU" sz="2400">
                <a:solidFill>
                  <a:srgbClr val="014189"/>
                </a:solidFill>
              </a:rPr>
              <a:t>Оптимизировать инференс модели методами квантования, компиляции и выбора runtime</a:t>
            </a:r>
            <a:endParaRPr sz="2400">
              <a:solidFill>
                <a:srgbClr val="014189"/>
              </a:solidFill>
            </a:endParaRPr>
          </a:p>
          <a:p>
            <a:pPr indent="-371371" lvl="0" marL="46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4189"/>
              </a:buClr>
              <a:buSzPct val="100000"/>
              <a:buChar char="●"/>
            </a:pPr>
            <a:r>
              <a:rPr lang="ru-RU" sz="2400">
                <a:solidFill>
                  <a:srgbClr val="014189"/>
                </a:solidFill>
              </a:rPr>
              <a:t>Провести нагрузочное тестирование и измерить ключевые метрики производительности</a:t>
            </a:r>
            <a:endParaRPr sz="2400">
              <a:solidFill>
                <a:srgbClr val="014189"/>
              </a:solidFill>
            </a:endParaRPr>
          </a:p>
          <a:p>
            <a:pPr indent="-371371" lvl="0" marL="46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4189"/>
              </a:buClr>
              <a:buSzPct val="100000"/>
              <a:buChar char="●"/>
            </a:pPr>
            <a:r>
              <a:rPr lang="ru-RU" sz="2400">
                <a:solidFill>
                  <a:srgbClr val="014189"/>
                </a:solidFill>
              </a:rPr>
              <a:t>Настроить мониторинг, логирование и алертинг для развёрнутой системы</a:t>
            </a:r>
            <a:endParaRPr sz="2400">
              <a:solidFill>
                <a:srgbClr val="01418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522112dfd_0_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41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g3f522112dfd_0_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64327" y="347827"/>
            <a:ext cx="3427672" cy="480869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g3f522112dfd_0_13"/>
          <p:cNvSpPr txBox="1"/>
          <p:nvPr>
            <p:ph type="title"/>
          </p:nvPr>
        </p:nvSpPr>
        <p:spPr>
          <a:xfrm>
            <a:off x="838199" y="641601"/>
            <a:ext cx="10400100" cy="8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los Text SemiBold"/>
              <a:buNone/>
            </a:pPr>
            <a:r>
              <a:rPr lang="ru-RU">
                <a:solidFill>
                  <a:schemeClr val="lt1"/>
                </a:solidFill>
              </a:rPr>
              <a:t>Задачи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2" name="Google Shape;132;g3f522112dfd_0_13"/>
          <p:cNvSpPr txBox="1"/>
          <p:nvPr/>
        </p:nvSpPr>
        <p:spPr>
          <a:xfrm>
            <a:off x="722742" y="182825"/>
            <a:ext cx="105156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Преподавание современного ИИ на топ-уровне: системное видение</a:t>
            </a:r>
            <a:endParaRPr b="0" i="0" sz="1800" u="none" cap="none" strike="noStrike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33" name="Google Shape;133;g3f522112dfd_0_13"/>
          <p:cNvSpPr/>
          <p:nvPr/>
        </p:nvSpPr>
        <p:spPr>
          <a:xfrm>
            <a:off x="412488" y="1701478"/>
            <a:ext cx="11208600" cy="4860000"/>
          </a:xfrm>
          <a:prstGeom prst="roundRect">
            <a:avLst>
              <a:gd fmla="val 1011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3f522112dfd_0_13"/>
          <p:cNvSpPr txBox="1"/>
          <p:nvPr>
            <p:ph idx="1" type="body"/>
          </p:nvPr>
        </p:nvSpPr>
        <p:spPr>
          <a:xfrm>
            <a:off x="838200" y="1960825"/>
            <a:ext cx="10400100" cy="44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83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14189"/>
              </a:buClr>
              <a:buSzPts val="2200"/>
              <a:buChar char="●"/>
            </a:pPr>
            <a:r>
              <a:rPr lang="ru-RU" sz="2200">
                <a:solidFill>
                  <a:srgbClr val="014189"/>
                </a:solidFill>
              </a:rPr>
              <a:t>Реализовать автоскейлинг компонентов системы под изменяющуюся нагрузку</a:t>
            </a:r>
            <a:endParaRPr sz="2200">
              <a:solidFill>
                <a:srgbClr val="014189"/>
              </a:solidFill>
            </a:endParaRPr>
          </a:p>
          <a:p>
            <a:pPr indent="-370101" lvl="0" marL="4608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14189"/>
              </a:buClr>
              <a:buSzPts val="2200"/>
              <a:buChar char="●"/>
            </a:pPr>
            <a:r>
              <a:rPr lang="ru-RU" sz="2200">
                <a:solidFill>
                  <a:srgbClr val="014189"/>
                </a:solidFill>
              </a:rPr>
              <a:t>Построить CI/CD-пайплайн для автоматизации сборки, тестирования и деплоя</a:t>
            </a:r>
            <a:endParaRPr sz="2200">
              <a:solidFill>
                <a:srgbClr val="014189"/>
              </a:solidFill>
            </a:endParaRPr>
          </a:p>
          <a:p>
            <a:pPr indent="-370101" lvl="0" marL="4608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14189"/>
              </a:buClr>
              <a:buSzPts val="2200"/>
              <a:buChar char="●"/>
            </a:pPr>
            <a:r>
              <a:rPr lang="ru-RU" sz="2200">
                <a:solidFill>
                  <a:srgbClr val="014189"/>
                </a:solidFill>
              </a:rPr>
              <a:t>Оценить стоимость и энергопотребление инференса, обосновать выбор инфраструктуры</a:t>
            </a:r>
            <a:endParaRPr sz="2200">
              <a:solidFill>
                <a:srgbClr val="014189"/>
              </a:solidFill>
            </a:endParaRPr>
          </a:p>
          <a:p>
            <a:pPr indent="-370101" lvl="0" marL="4608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14189"/>
              </a:buClr>
              <a:buSzPts val="2200"/>
              <a:buChar char="●"/>
            </a:pPr>
            <a:r>
              <a:rPr lang="ru-RU" sz="2200">
                <a:solidFill>
                  <a:srgbClr val="014189"/>
                </a:solidFill>
              </a:rPr>
              <a:t>Обеспечить безопасность развёрнутой системы: управление секретами, сетевая изоляция, политики доступа</a:t>
            </a:r>
            <a:endParaRPr sz="2200">
              <a:solidFill>
                <a:srgbClr val="014189"/>
              </a:solidFill>
            </a:endParaRPr>
          </a:p>
          <a:p>
            <a:pPr indent="-370101" lvl="0" marL="4608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14189"/>
              </a:buClr>
              <a:buSzPts val="2200"/>
              <a:buChar char="●"/>
            </a:pPr>
            <a:r>
              <a:rPr lang="ru-RU" sz="2200">
                <a:solidFill>
                  <a:srgbClr val="014189"/>
                </a:solidFill>
              </a:rPr>
              <a:t>Интегрировать вспомогательные технологии Big Data в единый стек (стриминг, векторные БД, feature store)</a:t>
            </a:r>
            <a:endParaRPr sz="2200">
              <a:solidFill>
                <a:srgbClr val="014189"/>
              </a:solidFill>
            </a:endParaRPr>
          </a:p>
          <a:p>
            <a:pPr indent="-370101" lvl="0" marL="4608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14189"/>
              </a:buClr>
              <a:buSzPts val="2200"/>
              <a:buChar char="●"/>
            </a:pPr>
            <a:r>
              <a:rPr lang="ru-RU" sz="2200">
                <a:solidFill>
                  <a:srgbClr val="014189"/>
                </a:solidFill>
              </a:rPr>
              <a:t>Развернуть и протестировать систему на различных платформах: on-prem GPU-сервер, облако, edge</a:t>
            </a:r>
            <a:endParaRPr sz="2200">
              <a:solidFill>
                <a:srgbClr val="014189"/>
              </a:solidFill>
            </a:endParaRPr>
          </a:p>
          <a:p>
            <a:pPr indent="-370101" lvl="0" marL="4608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14189"/>
              </a:buClr>
              <a:buSzPts val="2200"/>
              <a:buChar char="●"/>
            </a:pPr>
            <a:r>
              <a:rPr lang="ru-RU" sz="2200">
                <a:solidFill>
                  <a:srgbClr val="014189"/>
                </a:solidFill>
              </a:rPr>
              <a:t>Подготовить техническую документацию: архитектурную схему, runbook, инструкцию по восстановлению</a:t>
            </a:r>
            <a:endParaRPr sz="2200">
              <a:solidFill>
                <a:srgbClr val="014189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"/>
          <p:cNvSpPr/>
          <p:nvPr/>
        </p:nvSpPr>
        <p:spPr>
          <a:xfrm>
            <a:off x="0" y="1"/>
            <a:ext cx="12192000" cy="681000"/>
          </a:xfrm>
          <a:prstGeom prst="rect">
            <a:avLst/>
          </a:prstGeom>
          <a:solidFill>
            <a:srgbClr val="0141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"/>
          <p:cNvSpPr txBox="1"/>
          <p:nvPr/>
        </p:nvSpPr>
        <p:spPr>
          <a:xfrm>
            <a:off x="722742" y="182825"/>
            <a:ext cx="10515600" cy="3622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Преподавание современного ИИ на топ-уровне: системное видение</a:t>
            </a:r>
            <a:endParaRPr b="0" i="0" sz="1800" u="none" cap="none" strike="noStrike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graphicFrame>
        <p:nvGraphicFramePr>
          <p:cNvPr id="141" name="Google Shape;141;p2"/>
          <p:cNvGraphicFramePr/>
          <p:nvPr/>
        </p:nvGraphicFramePr>
        <p:xfrm>
          <a:off x="304800" y="807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{46143CF0-7D4B-4E3C-BB5F-59AC23AAD7D7}</a:tableStyleId>
              </a:tblPr>
              <a:tblGrid>
                <a:gridCol w="3187825"/>
                <a:gridCol w="5138800"/>
                <a:gridCol w="744200"/>
                <a:gridCol w="665325"/>
                <a:gridCol w="724475"/>
                <a:gridCol w="635775"/>
                <a:gridCol w="665350"/>
              </a:tblGrid>
              <a:tr h="452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Элемент дисциплины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Содержание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Форма занятия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Объём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Компетенция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Индикатор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Уровень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993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Раздел 1. Архитектура и эксплуатационные требования к промышленным ИИ-системам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Жизненный цикл ИИ-сервиса в проде; SLA/SLO/SLI; метрики эксплуатации (p50/p95/p99, TTFT, TPS, availability); состав production-ИИ-сервиса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Л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2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LC-5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LC-5.1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С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3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Формулирование требований к сервису на 30 пользователей; целевые SLO по p95/TTFT/throughput/availability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ЛР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2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BD-5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BD-5.3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П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</a:tr>
              <a:tr h="663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Анализ архитектур production ИИ-сервисов; подготовка SLA-контракта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СРС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2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BD-5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BD-5.3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П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18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Раздел 2. Контейнеризация и серверы инференса моделей МО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Docker/containerd/Podman; образы для ML; NVIDIA Container Toolkit; Triton/TorchServe/TF Serving/vLLM/TGI; continuous batching, paged attention, квантование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Л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3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LC-5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LC-5.1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П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</a:tr>
              <a:tr h="77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Контейнеризация модели; запуск inference-endpoint на CPU и GPU (NVIDIA Container Toolkit); базовые замеры latency/throughput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ЛР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4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BD-5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BD-5.2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С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13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Сравнение серверов инференса по критериям; подготовка обоснования выбора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СРС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4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LC-5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LC-5.1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С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522112dfd_0_54"/>
          <p:cNvSpPr/>
          <p:nvPr/>
        </p:nvSpPr>
        <p:spPr>
          <a:xfrm>
            <a:off x="0" y="1"/>
            <a:ext cx="12192000" cy="681000"/>
          </a:xfrm>
          <a:prstGeom prst="rect">
            <a:avLst/>
          </a:prstGeom>
          <a:solidFill>
            <a:srgbClr val="0141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g3f522112dfd_0_54"/>
          <p:cNvSpPr txBox="1"/>
          <p:nvPr/>
        </p:nvSpPr>
        <p:spPr>
          <a:xfrm>
            <a:off x="722742" y="182825"/>
            <a:ext cx="105156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Преподавание современного ИИ на топ-уровне: системное видение</a:t>
            </a:r>
            <a:endParaRPr b="0" i="0" sz="1800" u="none" cap="none" strike="noStrike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graphicFrame>
        <p:nvGraphicFramePr>
          <p:cNvPr id="148" name="Google Shape;148;g3f522112dfd_0_54"/>
          <p:cNvGraphicFramePr/>
          <p:nvPr/>
        </p:nvGraphicFramePr>
        <p:xfrm>
          <a:off x="304800" y="807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{46143CF0-7D4B-4E3C-BB5F-59AC23AAD7D7}</a:tableStyleId>
              </a:tblPr>
              <a:tblGrid>
                <a:gridCol w="3187825"/>
                <a:gridCol w="5138800"/>
                <a:gridCol w="744200"/>
                <a:gridCol w="665325"/>
                <a:gridCol w="724475"/>
                <a:gridCol w="635775"/>
                <a:gridCol w="665350"/>
              </a:tblGrid>
              <a:tr h="452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Элемент дисциплины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Содержание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Форма занятия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Объём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Компетенция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Индикатор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Уровень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86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Раздел 3. Оркестрация и масштабирование ИИ-сервисов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K8s/Docker Swarm/Nomad; Deployment/Service/Ingress; requests/limits; GPU-ноды, taints/tolerations; HPA/VPA; rolling update, probes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Л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3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LC-5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LC-5.1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П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63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Развёртывание inference-сервиса в K8s с GPU-ноды; HPA; secrets; rolling update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ЛР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4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LC-5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LC-5.1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П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</a:tr>
              <a:tr h="743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Сравнение оркестраторов; проектирование манифестов; обоснование выбора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СРС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4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LC-5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LC-5.1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С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84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Раздел 4. Инфраструктура данных и RAG-контуры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MinIO (S3); DVC; Feast; векторные БД Milvus/Qdrant/Pinecone; Redis; репликация PostgreSQL; RBAC/IAM/ACL; RAG-контур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Л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3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LC-5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LC-5.2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П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</a:tr>
              <a:tr h="743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Сборка RAG-контура (MinIO+Qdrant+Redis); репликация PostgreSQL; контуры read-only/read-write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ЛР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4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LC-5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LC-5.2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П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6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Выбор data-стека под тип данных и ограничения; проектирование схемы доступа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СРС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4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BD-5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BD-5.1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С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522112dfd_0_60"/>
          <p:cNvSpPr/>
          <p:nvPr/>
        </p:nvSpPr>
        <p:spPr>
          <a:xfrm>
            <a:off x="0" y="1"/>
            <a:ext cx="12192000" cy="681000"/>
          </a:xfrm>
          <a:prstGeom prst="rect">
            <a:avLst/>
          </a:prstGeom>
          <a:solidFill>
            <a:srgbClr val="0141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3f522112dfd_0_60"/>
          <p:cNvSpPr txBox="1"/>
          <p:nvPr/>
        </p:nvSpPr>
        <p:spPr>
          <a:xfrm>
            <a:off x="722742" y="182825"/>
            <a:ext cx="105156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Преподавание современного ИИ на топ-уровне: системное видение</a:t>
            </a:r>
            <a:endParaRPr b="0" i="0" sz="1800" u="none" cap="none" strike="noStrike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graphicFrame>
        <p:nvGraphicFramePr>
          <p:cNvPr id="155" name="Google Shape;155;g3f522112dfd_0_60"/>
          <p:cNvGraphicFramePr/>
          <p:nvPr/>
        </p:nvGraphicFramePr>
        <p:xfrm>
          <a:off x="304800" y="807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{46143CF0-7D4B-4E3C-BB5F-59AC23AAD7D7}</a:tableStyleId>
              </a:tblPr>
              <a:tblGrid>
                <a:gridCol w="3187825"/>
                <a:gridCol w="5138800"/>
                <a:gridCol w="744200"/>
                <a:gridCol w="665325"/>
                <a:gridCol w="724475"/>
                <a:gridCol w="635775"/>
                <a:gridCol w="665350"/>
              </a:tblGrid>
              <a:tr h="452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Элемент дисциплины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Содержание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Форма занятия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Объём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Компетенция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Индикатор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Уровень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15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Раздел 5. CI/CD, реестры моделей и GitOps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GitLab CI/GitHub Actions/ArgoCD/Tekton; пайплайн ML: сборка образов, model registry, GitOps-деплой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Л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2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LC-5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LC-5.1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П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82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Сборка pipeline: образ модели → registry → GitOps-деплой в K8s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ЛР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3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LC-5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LC-5.1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С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</a:tr>
              <a:tr h="70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Сравнение CI/CD-платформ; проектирование пайплайна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СРС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2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BD-5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BD-5.1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С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04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Раздел 6. Мониторинг, логирование и наблюдаемость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Prometheus/Grafana/ELK; метрики инференса (TTFT, inter-token latency, TPS, GPU util); дашборды и алерты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Л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3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LC-5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LC-5.1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П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</a:tr>
              <a:tr h="653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Инструментирование сервиса; сбор метрик; построение дашборда и алертов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ЛР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4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BD-5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BD-5.3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П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72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Проектирование observability-стека; настройка алертов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СРС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3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LC-5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LC-5.1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П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522112dfd_0_66"/>
          <p:cNvSpPr/>
          <p:nvPr/>
        </p:nvSpPr>
        <p:spPr>
          <a:xfrm>
            <a:off x="0" y="1"/>
            <a:ext cx="12192000" cy="681000"/>
          </a:xfrm>
          <a:prstGeom prst="rect">
            <a:avLst/>
          </a:prstGeom>
          <a:solidFill>
            <a:srgbClr val="0141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f522112dfd_0_66"/>
          <p:cNvSpPr txBox="1"/>
          <p:nvPr/>
        </p:nvSpPr>
        <p:spPr>
          <a:xfrm>
            <a:off x="722742" y="182825"/>
            <a:ext cx="105156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Преподавание современного ИИ на топ-уровне: системное видение</a:t>
            </a:r>
            <a:endParaRPr b="0" i="0" sz="1800" u="none" cap="none" strike="noStrike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graphicFrame>
        <p:nvGraphicFramePr>
          <p:cNvPr id="162" name="Google Shape;162;g3f522112dfd_0_66"/>
          <p:cNvGraphicFramePr/>
          <p:nvPr/>
        </p:nvGraphicFramePr>
        <p:xfrm>
          <a:off x="304800" y="807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{46143CF0-7D4B-4E3C-BB5F-59AC23AAD7D7}</a:tableStyleId>
              </a:tblPr>
              <a:tblGrid>
                <a:gridCol w="3187825"/>
                <a:gridCol w="5138800"/>
                <a:gridCol w="744200"/>
                <a:gridCol w="665325"/>
                <a:gridCol w="724475"/>
                <a:gridCol w="635775"/>
                <a:gridCol w="665350"/>
              </a:tblGrid>
              <a:tr h="452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Элемент дисциплины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Содержание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Форма занятия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Объём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Компетенция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Индикатор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Уровень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53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Раздел 7. Нагрузочное тестирование, устойчивость и оценка качества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soak/spike/stress; k6/Locust/AB; метрики (p50/p95/p99, throughput, cost/1K req, W/req, GPU util); A/B; chaos engineering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Л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2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BD-5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BD-5.3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С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90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Нагрузочный тест профиля «30 пользователей»; A/B двух конфигураций; chaos (kill pod, network partition)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ЛР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4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BD-5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BD-5.3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С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</a:tr>
              <a:tr h="713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Анализ результатов тестирования; рекомендации по оптимизации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СРС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3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BD-5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BD-5.3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С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07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Раздел 8. Планирование мощности, разнородная инфраструктура и итоговый проект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Capacity planning (GPU на 30/1000 пользователей); CPU/GPU/TPU; облако/edge (ONNX, TF Lite, Raspberry Pi); гибрид on-prem GPU + облачный fallback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Л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2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BD-5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BD-5.2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П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</a:tr>
              <a:tr h="793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Финальный проект: сборка shared ИИ-сервиса на 30 человек; SLA- и capacity-отчёт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ЛР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3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BD-5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BD-5.3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С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20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Подготовка отчёта и защита итогового проекта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СРС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2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BD-5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BD-5.3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С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</a:tr>
              <a:tr h="7209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ВСЕГО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72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Зачет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522112dfd_0_7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41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g3f522112dfd_0_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64327" y="347827"/>
            <a:ext cx="3427672" cy="480869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g3f522112dfd_0_72"/>
          <p:cNvSpPr txBox="1"/>
          <p:nvPr>
            <p:ph type="title"/>
          </p:nvPr>
        </p:nvSpPr>
        <p:spPr>
          <a:xfrm>
            <a:off x="838199" y="641601"/>
            <a:ext cx="10400100" cy="8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los Text SemiBold"/>
              <a:buNone/>
            </a:pPr>
            <a:r>
              <a:rPr lang="ru-RU">
                <a:solidFill>
                  <a:schemeClr val="lt1"/>
                </a:solidFill>
              </a:rPr>
              <a:t>Пререквизиты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0" name="Google Shape;170;g3f522112dfd_0_72"/>
          <p:cNvSpPr txBox="1"/>
          <p:nvPr/>
        </p:nvSpPr>
        <p:spPr>
          <a:xfrm>
            <a:off x="722742" y="182825"/>
            <a:ext cx="105156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Преподавание современного ИИ на топ-уровне: системное видение</a:t>
            </a:r>
            <a:endParaRPr b="0" i="0" sz="1800" u="none" cap="none" strike="noStrike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71" name="Google Shape;171;g3f522112dfd_0_72"/>
          <p:cNvSpPr/>
          <p:nvPr/>
        </p:nvSpPr>
        <p:spPr>
          <a:xfrm>
            <a:off x="384275" y="1520300"/>
            <a:ext cx="11236800" cy="5259000"/>
          </a:xfrm>
          <a:prstGeom prst="roundRect">
            <a:avLst>
              <a:gd fmla="val 1011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2" name="Google Shape;172;g3f522112dfd_0_72"/>
          <p:cNvGraphicFramePr/>
          <p:nvPr/>
        </p:nvGraphicFramePr>
        <p:xfrm>
          <a:off x="655263" y="185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{46143CF0-7D4B-4E3C-BB5F-59AC23AAD7D7}</a:tableStyleId>
              </a:tblPr>
              <a:tblGrid>
                <a:gridCol w="3716475"/>
                <a:gridCol w="597325"/>
                <a:gridCol w="6395900"/>
              </a:tblGrid>
              <a:tr h="306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Дисциплина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Сем.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Что даёт для курса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6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Администрирование информационных сетей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3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TCP/IP, HTTP, DNS, TLS, балансировка — база для serving и мониторинга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6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Операционные системы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3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Linux, процессы, systemd, права, CLI — среда развертывания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</a:tr>
              <a:tr h="306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Обработка данных на Python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3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Python как язык интеграции и скриптов инфры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6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Базы данных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4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SQL, PostgreSQL, транзакции, индексы — data-слой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</a:tr>
              <a:tr h="306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WEB-разработка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4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REST API — интерфейс инференс-сервисов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6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Технологии управления данными NoSQL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5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NoSQL, кэши — Redis, векторные БД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</a:tr>
              <a:tr h="306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Технологии создания и поддержки ПО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4–5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Жизненный цикл ПО, основы CI/CD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6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Машинное обучение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5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Что такое модель, инференс, метрики качества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</a:tr>
              <a:tr h="306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Нейросетевые технологии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5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Архитектуры нейросетей, пайплайн обучения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6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Глубокое обучение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6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DL-модели, которые предстоит сервить (LLM и др.)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</a:tr>
              <a:tr h="306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MLOps &amp; DevOps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6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Docker, CI/CD, основы K8s — прямой предшественник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6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Микросервисная архитектура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6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Декомпозиция сервисов, оркестрация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</a:tr>
              <a:tr h="306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Технологии тестирования ПО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6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База для k6/Locust, нагрузочного тестирования, SLA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6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Технологии обработки больших данных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6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Spark/Flink, дата-инфраструктура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522112dfd_0_8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41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8" name="Google Shape;178;g3f522112dfd_0_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64327" y="347827"/>
            <a:ext cx="3427672" cy="480869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g3f522112dfd_0_83"/>
          <p:cNvSpPr txBox="1"/>
          <p:nvPr>
            <p:ph type="title"/>
          </p:nvPr>
        </p:nvSpPr>
        <p:spPr>
          <a:xfrm>
            <a:off x="838199" y="641601"/>
            <a:ext cx="10400100" cy="8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los Text SemiBold"/>
              <a:buNone/>
            </a:pPr>
            <a:r>
              <a:rPr lang="ru-RU">
                <a:solidFill>
                  <a:schemeClr val="lt1"/>
                </a:solidFill>
              </a:rPr>
              <a:t>Фоновые п</a:t>
            </a:r>
            <a:r>
              <a:rPr lang="ru-RU">
                <a:solidFill>
                  <a:schemeClr val="lt1"/>
                </a:solidFill>
              </a:rPr>
              <a:t>ререквизиты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0" name="Google Shape;180;g3f522112dfd_0_83"/>
          <p:cNvSpPr txBox="1"/>
          <p:nvPr/>
        </p:nvSpPr>
        <p:spPr>
          <a:xfrm>
            <a:off x="722742" y="182825"/>
            <a:ext cx="105156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Преподавание современного ИИ на топ-уровне: системное видение</a:t>
            </a:r>
            <a:endParaRPr b="0" i="0" sz="1800" u="none" cap="none" strike="noStrike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81" name="Google Shape;181;g3f522112dfd_0_83"/>
          <p:cNvSpPr/>
          <p:nvPr/>
        </p:nvSpPr>
        <p:spPr>
          <a:xfrm>
            <a:off x="384275" y="1520300"/>
            <a:ext cx="11236800" cy="5259000"/>
          </a:xfrm>
          <a:prstGeom prst="roundRect">
            <a:avLst>
              <a:gd fmla="val 1011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2" name="Google Shape;182;g3f522112dfd_0_83"/>
          <p:cNvGraphicFramePr/>
          <p:nvPr/>
        </p:nvGraphicFramePr>
        <p:xfrm>
          <a:off x="655263" y="185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{46143CF0-7D4B-4E3C-BB5F-59AC23AAD7D7}</a:tableStyleId>
              </a:tblPr>
              <a:tblGrid>
                <a:gridCol w="3716475"/>
                <a:gridCol w="597325"/>
                <a:gridCol w="6395900"/>
              </a:tblGrid>
              <a:tr h="306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Дисциплина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Сем.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Что даёт для курса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6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Основы программирования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1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База кода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6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Алгоритмы и структуры данных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2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Алгоритмическая база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</a:tr>
              <a:tr h="306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Объектно-ориентированное программирование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3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Структура сервисов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6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Параллельное и низкоуровневое программирование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4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Понимание CPU/GPU/performance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</a:tr>
              <a:tr h="306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A/B-тестирование и Uplift-моделирование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4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Сравнение конфигураций инференса (A/B)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6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Разработка ИИ-решений для индустрии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6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Прикладной контекст эксплуатации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522112dfd_0_9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41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g3f522112dfd_0_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64327" y="347827"/>
            <a:ext cx="3427672" cy="480869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g3f522112dfd_0_93"/>
          <p:cNvSpPr txBox="1"/>
          <p:nvPr>
            <p:ph type="title"/>
          </p:nvPr>
        </p:nvSpPr>
        <p:spPr>
          <a:xfrm>
            <a:off x="838199" y="641601"/>
            <a:ext cx="10400100" cy="8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los Text SemiBold"/>
              <a:buNone/>
            </a:pPr>
            <a:r>
              <a:rPr lang="ru-RU">
                <a:solidFill>
                  <a:schemeClr val="lt1"/>
                </a:solidFill>
              </a:rPr>
              <a:t>Пост-реквизиты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90" name="Google Shape;190;g3f522112dfd_0_93"/>
          <p:cNvSpPr txBox="1"/>
          <p:nvPr/>
        </p:nvSpPr>
        <p:spPr>
          <a:xfrm>
            <a:off x="722742" y="182825"/>
            <a:ext cx="105156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Преподавание современного ИИ на топ-уровне: системное видение</a:t>
            </a:r>
            <a:endParaRPr b="0" i="0" sz="1800" u="none" cap="none" strike="noStrike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91" name="Google Shape;191;g3f522112dfd_0_93"/>
          <p:cNvSpPr/>
          <p:nvPr/>
        </p:nvSpPr>
        <p:spPr>
          <a:xfrm>
            <a:off x="384275" y="1520300"/>
            <a:ext cx="11236800" cy="5259000"/>
          </a:xfrm>
          <a:prstGeom prst="roundRect">
            <a:avLst>
              <a:gd fmla="val 1011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2" name="Google Shape;192;g3f522112dfd_0_93"/>
          <p:cNvGraphicFramePr/>
          <p:nvPr/>
        </p:nvGraphicFramePr>
        <p:xfrm>
          <a:off x="655263" y="185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{46143CF0-7D4B-4E3C-BB5F-59AC23AAD7D7}</a:tableStyleId>
              </a:tblPr>
              <a:tblGrid>
                <a:gridCol w="3716475"/>
                <a:gridCol w="6395900"/>
              </a:tblGrid>
              <a:tr h="306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Дисциплина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Что развивает поверх курса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6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Высоконагруженные приложения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SRE, observability, отказоустойчивость, масштабирование — обобщение с 30 пользователей на highload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6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Генеративный искусственный интеллект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Прямо использует vLLM/LLM-serving как инфраструктуру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</a:tr>
              <a:tr h="306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Математические модели защиты информации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Защищённый RAG, supply chain, приватность данных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6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Проектная работа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Командный проект — внедрение ИИ-сервиса в эксплуатацию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</a:tr>
              <a:tr h="306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Преддипломная практика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Эксплуатация ИИ-системы в реальном контуре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6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ГИА (госэкзамен + ВКР)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Защита решения, включающего production-развертывание ИИ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3a8a9dc87_0_0"/>
          <p:cNvSpPr/>
          <p:nvPr/>
        </p:nvSpPr>
        <p:spPr>
          <a:xfrm>
            <a:off x="0" y="1"/>
            <a:ext cx="12192000" cy="681000"/>
          </a:xfrm>
          <a:prstGeom prst="rect">
            <a:avLst/>
          </a:prstGeom>
          <a:solidFill>
            <a:srgbClr val="0141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f3a8a9dc87_0_0"/>
          <p:cNvSpPr txBox="1"/>
          <p:nvPr/>
        </p:nvSpPr>
        <p:spPr>
          <a:xfrm>
            <a:off x="722742" y="182825"/>
            <a:ext cx="105156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Мысли о ФОС</a:t>
            </a:r>
            <a:endParaRPr b="0" i="0" sz="1800" u="none" cap="none" strike="noStrike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graphicFrame>
        <p:nvGraphicFramePr>
          <p:cNvPr id="199" name="Google Shape;199;g3f3a8a9dc87_0_0"/>
          <p:cNvGraphicFramePr/>
          <p:nvPr/>
        </p:nvGraphicFramePr>
        <p:xfrm>
          <a:off x="987613" y="177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{46143CF0-7D4B-4E3C-BB5F-59AC23AAD7D7}</a:tableStyleId>
              </a:tblPr>
              <a:tblGrid>
                <a:gridCol w="2276575"/>
                <a:gridCol w="3917900"/>
                <a:gridCol w="3917900"/>
              </a:tblGrid>
              <a:tr h="306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Критерий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Описание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Множитель (процент участия в </a:t>
                      </a:r>
                      <a:r>
                        <a:rPr lang="ru-RU">
                          <a:solidFill>
                            <a:srgbClr val="1F2328"/>
                          </a:solidFill>
                        </a:rPr>
                        <a:t>оценивании</a:t>
                      </a:r>
                      <a:r>
                        <a:rPr lang="ru-RU">
                          <a:solidFill>
                            <a:srgbClr val="1F2328"/>
                          </a:solidFill>
                        </a:rPr>
                        <a:t>)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6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Посещение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Отметка о наличии на лекциях и практических занятиях 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0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6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Промежуточное тестирование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Тестирование в начале лекции по пройденному материалу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20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</a:tr>
              <a:tr h="402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Лабораторные работы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Сдача лабораторных работ по курсу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30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6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Командный проект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Подготовка и защита командного проекта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20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</a:tr>
              <a:tr h="306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Зачет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Устный ответ на вопросы по дисциплине с использованием примеров.</a:t>
                      </a:r>
                      <a:br>
                        <a:rPr lang="ru-RU">
                          <a:solidFill>
                            <a:srgbClr val="1F2328"/>
                          </a:solidFill>
                        </a:rPr>
                      </a:br>
                      <a:r>
                        <a:rPr lang="ru-RU">
                          <a:solidFill>
                            <a:srgbClr val="1F2328"/>
                          </a:solidFill>
                        </a:rPr>
                        <a:t>Практическое задание с оценкой существующих решений.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30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6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Итого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F2328"/>
                          </a:solidFill>
                        </a:rPr>
                        <a:t>100</a:t>
                      </a:r>
                      <a:endParaRPr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200" name="Google Shape;200;g3f3a8a9dc87_0_0"/>
          <p:cNvSpPr txBox="1"/>
          <p:nvPr/>
        </p:nvSpPr>
        <p:spPr>
          <a:xfrm>
            <a:off x="166175" y="6078500"/>
            <a:ext cx="6314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Необходимо набрать 70 баллов</a:t>
            </a:r>
            <a:endParaRPr sz="28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536173"/>
            <a:ext cx="848531" cy="1935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41175" y="1531743"/>
            <a:ext cx="3950825" cy="5542627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5"/>
          <p:cNvSpPr txBox="1"/>
          <p:nvPr>
            <p:ph type="ctrTitle"/>
          </p:nvPr>
        </p:nvSpPr>
        <p:spPr>
          <a:xfrm>
            <a:off x="676443" y="1867175"/>
            <a:ext cx="9144000" cy="171472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89"/>
              </a:buClr>
              <a:buSzPct val="100000"/>
              <a:buFont typeface="Golos Text"/>
              <a:buNone/>
            </a:pPr>
            <a:r>
              <a:rPr lang="ru-RU">
                <a:solidFill>
                  <a:srgbClr val="014189"/>
                </a:solidFill>
              </a:rPr>
              <a:t>Спасибо</a:t>
            </a:r>
            <a:br>
              <a:rPr lang="ru-RU">
                <a:solidFill>
                  <a:srgbClr val="014189"/>
                </a:solidFill>
              </a:rPr>
            </a:br>
            <a:r>
              <a:rPr lang="ru-RU">
                <a:solidFill>
                  <a:srgbClr val="014189"/>
                </a:solidFill>
              </a:rPr>
              <a:t>за внимание!</a:t>
            </a:r>
            <a:endParaRPr/>
          </a:p>
        </p:txBody>
      </p:sp>
      <p:sp>
        <p:nvSpPr>
          <p:cNvPr id="208" name="Google Shape;208;p5"/>
          <p:cNvSpPr txBox="1"/>
          <p:nvPr>
            <p:ph idx="1" type="subTitle"/>
          </p:nvPr>
        </p:nvSpPr>
        <p:spPr>
          <a:xfrm>
            <a:off x="676443" y="3822096"/>
            <a:ext cx="9144000" cy="6588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89"/>
              </a:buClr>
              <a:buSzPts val="2000"/>
              <a:buNone/>
            </a:pPr>
            <a:r>
              <a:rPr lang="ru-RU" sz="2000">
                <a:solidFill>
                  <a:srgbClr val="014189"/>
                </a:solidFill>
              </a:rPr>
              <a:t>Прутский А.С.</a:t>
            </a:r>
            <a:endParaRPr sz="2000">
              <a:solidFill>
                <a:srgbClr val="014189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89"/>
              </a:buClr>
              <a:buSzPts val="2000"/>
              <a:buNone/>
            </a:pPr>
            <a:r>
              <a:rPr lang="ru-RU" sz="2000">
                <a:solidFill>
                  <a:srgbClr val="014189"/>
                </a:solidFill>
              </a:rPr>
              <a:t>+7-918-939-20-41</a:t>
            </a:r>
            <a:endParaRPr sz="2000">
              <a:solidFill>
                <a:srgbClr val="014189"/>
              </a:solidFill>
            </a:endParaRPr>
          </a:p>
        </p:txBody>
      </p:sp>
      <p:pic>
        <p:nvPicPr>
          <p:cNvPr id="209" name="Google Shape;20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6443" y="386289"/>
            <a:ext cx="5322298" cy="329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23323" y="391785"/>
            <a:ext cx="1692234" cy="3298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2026-06-15T11:15:35Z</dcterms:created>
  <dc:creator>Будуева Ольга Олеговна</dc:creator>
</cp:coreProperties>
</file>